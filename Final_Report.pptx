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432911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1000224"/>
            <a:ext cx="5742305" cy="673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29665">
              <a:lnSpc>
                <a:spcPct val="1102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Bluestock</a:t>
            </a:r>
            <a:r>
              <a:rPr dirty="0" sz="2300" spc="-1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Mutual</a:t>
            </a:r>
            <a:r>
              <a:rPr dirty="0" sz="2300" spc="-1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Fund</a:t>
            </a:r>
            <a:r>
              <a:rPr dirty="0" sz="2300" spc="-10" b="1">
                <a:latin typeface="Arial"/>
                <a:cs typeface="Arial"/>
              </a:rPr>
              <a:t> Analytics </a:t>
            </a:r>
            <a:r>
              <a:rPr dirty="0" sz="2300" b="1">
                <a:latin typeface="Arial"/>
                <a:cs typeface="Arial"/>
              </a:rPr>
              <a:t>Capstone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Project</a:t>
            </a:r>
            <a:endParaRPr sz="23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4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Submitted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By: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Sujal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Patel</a:t>
            </a:r>
            <a:endParaRPr sz="2300">
              <a:latin typeface="Arial MT"/>
              <a:cs typeface="Arial MT"/>
            </a:endParaRPr>
          </a:p>
          <a:p>
            <a:pPr marL="469265" marR="70485" indent="-305435">
              <a:lnSpc>
                <a:spcPct val="110200"/>
              </a:lnSpc>
              <a:buChar char="●"/>
              <a:tabLst>
                <a:tab pos="469265" algn="l"/>
              </a:tabLst>
            </a:pPr>
            <a:r>
              <a:rPr dirty="0" sz="2300">
                <a:latin typeface="Arial MT"/>
                <a:cs typeface="Arial MT"/>
              </a:rPr>
              <a:t>Project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Type: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Analytics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&amp;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Business Intelligence</a:t>
            </a:r>
            <a:endParaRPr sz="2300">
              <a:latin typeface="Arial MT"/>
              <a:cs typeface="Arial MT"/>
            </a:endParaRPr>
          </a:p>
          <a:p>
            <a:pPr marL="469265" marR="5080" indent="-305435">
              <a:lnSpc>
                <a:spcPct val="110200"/>
              </a:lnSpc>
              <a:buChar char="●"/>
              <a:tabLst>
                <a:tab pos="469265" algn="l"/>
              </a:tabLst>
            </a:pPr>
            <a:r>
              <a:rPr dirty="0" sz="2300" spc="-10">
                <a:latin typeface="Arial MT"/>
                <a:cs typeface="Arial MT"/>
              </a:rPr>
              <a:t>Technologies: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Python,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SQLite,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Power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BI, </a:t>
            </a:r>
            <a:r>
              <a:rPr dirty="0" sz="2300">
                <a:latin typeface="Arial MT"/>
                <a:cs typeface="Arial MT"/>
              </a:rPr>
              <a:t>Pandas,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Matplotlib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Font typeface="Arial MT"/>
              <a:buChar char="●"/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300" b="1">
                <a:latin typeface="Arial"/>
                <a:cs typeface="Arial"/>
              </a:rPr>
              <a:t>Executive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Summary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300">
                <a:latin typeface="Arial MT"/>
                <a:cs typeface="Arial MT"/>
              </a:rPr>
              <a:t>This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page</a:t>
            </a:r>
            <a:r>
              <a:rPr dirty="0" sz="2300" spc="-10">
                <a:latin typeface="Arial MT"/>
                <a:cs typeface="Arial MT"/>
              </a:rPr>
              <a:t> explains: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4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Project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objective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engineering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workflow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Analytics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performed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Dashboard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implementation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Business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generated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499" y="8186736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8587960"/>
            <a:ext cx="47637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Introduction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&amp;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Problem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Statement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12047"/>
            <a:ext cx="5880100" cy="8217534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700" spc="-10" b="1">
                <a:latin typeface="Arial"/>
                <a:cs typeface="Arial"/>
              </a:rPr>
              <a:t>Introduction</a:t>
            </a:r>
            <a:endParaRPr sz="1700">
              <a:latin typeface="Arial"/>
              <a:cs typeface="Arial"/>
            </a:endParaRPr>
          </a:p>
          <a:p>
            <a:pPr marL="12700" marR="534670">
              <a:lnSpc>
                <a:spcPct val="110200"/>
              </a:lnSpc>
              <a:spcBef>
                <a:spcPts val="1090"/>
              </a:spcBef>
            </a:pP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mutual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industry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generates</a:t>
            </a:r>
            <a:r>
              <a:rPr dirty="0" sz="2300" spc="-10">
                <a:latin typeface="Arial MT"/>
                <a:cs typeface="Arial MT"/>
              </a:rPr>
              <a:t> large </a:t>
            </a:r>
            <a:r>
              <a:rPr dirty="0" sz="2300">
                <a:latin typeface="Arial MT"/>
                <a:cs typeface="Arial MT"/>
              </a:rPr>
              <a:t>volumes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financial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10">
                <a:latin typeface="Arial MT"/>
                <a:cs typeface="Arial MT"/>
              </a:rPr>
              <a:t> data.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</a:pPr>
            <a:r>
              <a:rPr dirty="0" sz="2300">
                <a:latin typeface="Arial MT"/>
                <a:cs typeface="Arial MT"/>
              </a:rPr>
              <a:t>Analyzing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this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information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manually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is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difficult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time-consuming.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1700" b="1">
                <a:latin typeface="Arial"/>
                <a:cs typeface="Arial"/>
              </a:rPr>
              <a:t>Problem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Statement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project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aims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to: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4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Analyze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mutual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performance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Understand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behavior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Monitor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industry</a:t>
            </a:r>
            <a:r>
              <a:rPr dirty="0" sz="2300" spc="-10">
                <a:latin typeface="Arial MT"/>
                <a:cs typeface="Arial MT"/>
              </a:rPr>
              <a:t> growth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Evaluate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investment</a:t>
            </a:r>
            <a:r>
              <a:rPr dirty="0" sz="2300" spc="-20">
                <a:latin typeface="Arial MT"/>
                <a:cs typeface="Arial MT"/>
              </a:rPr>
              <a:t> risk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Build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interactive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dashboards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spc="-10" b="1">
                <a:latin typeface="Arial"/>
                <a:cs typeface="Arial"/>
              </a:rPr>
              <a:t>Objectives</a:t>
            </a:r>
            <a:endParaRPr sz="1700">
              <a:latin typeface="Arial"/>
              <a:cs typeface="Arial"/>
            </a:endParaRPr>
          </a:p>
          <a:p>
            <a:pPr marL="697865" indent="-457200">
              <a:lnSpc>
                <a:spcPct val="100000"/>
              </a:lnSpc>
              <a:spcBef>
                <a:spcPts val="137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Create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ETL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pipeline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Build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warehouse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Perform</a:t>
            </a:r>
            <a:r>
              <a:rPr dirty="0" sz="2300" spc="-25">
                <a:latin typeface="Arial MT"/>
                <a:cs typeface="Arial MT"/>
              </a:rPr>
              <a:t> EDA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Create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dashboards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4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Perform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advanced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analytics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Develop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recommender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system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99" y="116681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1574719"/>
            <a:ext cx="2534285" cy="3967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Data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Sources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Datasets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Used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dirty="0" sz="2300" b="1">
                <a:latin typeface="Arial"/>
                <a:cs typeface="Arial"/>
              </a:rPr>
              <a:t>Dataset</a:t>
            </a:r>
            <a:r>
              <a:rPr dirty="0" sz="2300" spc="145" b="1">
                <a:latin typeface="Arial"/>
                <a:cs typeface="Arial"/>
              </a:rPr>
              <a:t>  </a:t>
            </a:r>
            <a:r>
              <a:rPr dirty="0" sz="2300" spc="-10" b="1">
                <a:latin typeface="Arial"/>
                <a:cs typeface="Arial"/>
              </a:rPr>
              <a:t>Purpose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300">
              <a:latin typeface="Arial"/>
              <a:cs typeface="Arial"/>
            </a:endParaRPr>
          </a:p>
          <a:p>
            <a:pPr marL="78740" marR="382905">
              <a:lnSpc>
                <a:spcPct val="110200"/>
              </a:lnSpc>
              <a:spcBef>
                <a:spcPts val="5"/>
              </a:spcBef>
              <a:tabLst>
                <a:tab pos="1297940" algn="l"/>
              </a:tabLst>
            </a:pPr>
            <a:r>
              <a:rPr dirty="0" sz="2300">
                <a:latin typeface="Arial MT"/>
                <a:cs typeface="Arial MT"/>
              </a:rPr>
              <a:t>dim_fun</a:t>
            </a:r>
            <a:r>
              <a:rPr dirty="0" sz="2300" spc="65">
                <a:latin typeface="Arial MT"/>
                <a:cs typeface="Arial MT"/>
              </a:rPr>
              <a:t>  </a:t>
            </a:r>
            <a:r>
              <a:rPr dirty="0" sz="2300" spc="-20">
                <a:latin typeface="Arial MT"/>
                <a:cs typeface="Arial MT"/>
              </a:rPr>
              <a:t>Fund </a:t>
            </a:r>
            <a:r>
              <a:rPr dirty="0" sz="2300" spc="-50">
                <a:latin typeface="Arial MT"/>
                <a:cs typeface="Arial MT"/>
              </a:rPr>
              <a:t>d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details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300">
              <a:latin typeface="Arial MT"/>
              <a:cs typeface="Arial MT"/>
            </a:endParaRPr>
          </a:p>
          <a:p>
            <a:pPr marL="78740" marR="41910">
              <a:lnSpc>
                <a:spcPct val="110200"/>
              </a:lnSpc>
              <a:spcBef>
                <a:spcPts val="5"/>
              </a:spcBef>
              <a:tabLst>
                <a:tab pos="1297940" algn="l"/>
              </a:tabLst>
            </a:pPr>
            <a:r>
              <a:rPr dirty="0" sz="2300">
                <a:latin typeface="Arial MT"/>
                <a:cs typeface="Arial MT"/>
              </a:rPr>
              <a:t>dim_dat</a:t>
            </a:r>
            <a:r>
              <a:rPr dirty="0" sz="2300" spc="65">
                <a:latin typeface="Arial MT"/>
                <a:cs typeface="Arial MT"/>
              </a:rPr>
              <a:t>  </a:t>
            </a:r>
            <a:r>
              <a:rPr dirty="0" sz="2300" spc="-10">
                <a:latin typeface="Arial MT"/>
                <a:cs typeface="Arial MT"/>
              </a:rPr>
              <a:t>Calendar </a:t>
            </a:r>
            <a:r>
              <a:rPr dirty="0" sz="2300" spc="-50">
                <a:latin typeface="Arial MT"/>
                <a:cs typeface="Arial MT"/>
              </a:rPr>
              <a:t>e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20">
                <a:latin typeface="Arial MT"/>
                <a:cs typeface="Arial MT"/>
              </a:rPr>
              <a:t>data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375" y="5954938"/>
            <a:ext cx="983615" cy="79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fact_na </a:t>
            </a:r>
            <a:r>
              <a:rPr dirty="0" sz="2300" spc="-50">
                <a:latin typeface="Arial MT"/>
                <a:cs typeface="Arial MT"/>
              </a:rPr>
              <a:t>v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7575" y="5954938"/>
            <a:ext cx="885825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5900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Daily </a:t>
            </a:r>
            <a:r>
              <a:rPr dirty="0" sz="2300" spc="-25">
                <a:latin typeface="Arial MT"/>
                <a:cs typeface="Arial MT"/>
              </a:rPr>
              <a:t>NAV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300" spc="-10">
                <a:latin typeface="Arial MT"/>
                <a:cs typeface="Arial MT"/>
              </a:rPr>
              <a:t>history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375" y="7551897"/>
            <a:ext cx="99949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fact_tra nsactio </a:t>
            </a:r>
            <a:r>
              <a:rPr dirty="0" sz="2300" spc="-25">
                <a:latin typeface="Arial MT"/>
                <a:cs typeface="Arial MT"/>
              </a:rPr>
              <a:t>ns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7575" y="7551897"/>
            <a:ext cx="129159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Investor transactio </a:t>
            </a:r>
            <a:r>
              <a:rPr dirty="0" sz="2300" spc="-25">
                <a:latin typeface="Arial MT"/>
                <a:cs typeface="Arial MT"/>
              </a:rPr>
              <a:t>ns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375" y="1066899"/>
            <a:ext cx="2413635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  <a:tabLst>
                <a:tab pos="1231265" algn="l"/>
              </a:tabLst>
            </a:pPr>
            <a:r>
              <a:rPr dirty="0" sz="2300">
                <a:latin typeface="Arial MT"/>
                <a:cs typeface="Arial MT"/>
              </a:rPr>
              <a:t>fact_per  </a:t>
            </a:r>
            <a:r>
              <a:rPr dirty="0" sz="2300" spc="-20">
                <a:latin typeface="Arial MT"/>
                <a:cs typeface="Arial MT"/>
              </a:rPr>
              <a:t>Fund </a:t>
            </a:r>
            <a:r>
              <a:rPr dirty="0" sz="2300">
                <a:latin typeface="Arial MT"/>
                <a:cs typeface="Arial MT"/>
              </a:rPr>
              <a:t>formanc</a:t>
            </a:r>
            <a:r>
              <a:rPr dirty="0" sz="2300" spc="5">
                <a:latin typeface="Arial MT"/>
                <a:cs typeface="Arial MT"/>
              </a:rPr>
              <a:t>  </a:t>
            </a:r>
            <a:r>
              <a:rPr dirty="0" sz="2300" spc="-10">
                <a:latin typeface="Arial MT"/>
                <a:cs typeface="Arial MT"/>
              </a:rPr>
              <a:t>performa </a:t>
            </a:r>
            <a:r>
              <a:rPr dirty="0" sz="2300" spc="-50">
                <a:latin typeface="Arial MT"/>
                <a:cs typeface="Arial MT"/>
              </a:rPr>
              <a:t>e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25">
                <a:latin typeface="Arial MT"/>
                <a:cs typeface="Arial MT"/>
              </a:rPr>
              <a:t>nce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8375" y="2663857"/>
            <a:ext cx="983615" cy="79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fact_au </a:t>
            </a:r>
            <a:r>
              <a:rPr dirty="0" sz="2300" spc="-50">
                <a:latin typeface="Arial MT"/>
                <a:cs typeface="Arial MT"/>
              </a:rPr>
              <a:t>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7575" y="2663857"/>
            <a:ext cx="1064260" cy="79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15">
              <a:lnSpc>
                <a:spcPct val="1102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Industry </a:t>
            </a:r>
            <a:r>
              <a:rPr dirty="0" sz="2300" spc="-25">
                <a:latin typeface="Arial MT"/>
                <a:cs typeface="Arial MT"/>
              </a:rPr>
              <a:t>AUM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795894"/>
            <a:ext cx="3989704" cy="524764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700" b="1">
                <a:latin typeface="Arial"/>
                <a:cs typeface="Arial"/>
              </a:rPr>
              <a:t>Database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Design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300">
                <a:latin typeface="Arial MT"/>
                <a:cs typeface="Arial MT"/>
              </a:rPr>
              <a:t>SQLite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Warehouse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5"/>
              </a:spcBef>
            </a:pPr>
            <a:r>
              <a:rPr dirty="0" sz="2300" spc="-50">
                <a:latin typeface="Arial MT"/>
                <a:cs typeface="Arial MT"/>
              </a:rPr>
              <a:t>|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0"/>
              </a:spcBef>
            </a:pPr>
            <a:r>
              <a:rPr dirty="0" sz="2300" spc="-690">
                <a:latin typeface="Arial MT"/>
                <a:cs typeface="Arial MT"/>
              </a:rPr>
              <a:t>├──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Dimension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Tables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0"/>
              </a:spcBef>
              <a:tabLst>
                <a:tab pos="1168400" algn="l"/>
              </a:tabLst>
            </a:pPr>
            <a:r>
              <a:rPr dirty="0" sz="2300" spc="-925">
                <a:latin typeface="Arial MT"/>
                <a:cs typeface="Arial MT"/>
              </a:rPr>
              <a:t>│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690">
                <a:latin typeface="Arial MT"/>
                <a:cs typeface="Arial MT"/>
              </a:rPr>
              <a:t>├──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dim_fund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5"/>
              </a:spcBef>
              <a:tabLst>
                <a:tab pos="1168400" algn="l"/>
              </a:tabLst>
            </a:pPr>
            <a:r>
              <a:rPr dirty="0" sz="2300" spc="-925">
                <a:latin typeface="Arial MT"/>
                <a:cs typeface="Arial MT"/>
              </a:rPr>
              <a:t>│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690">
                <a:latin typeface="Arial MT"/>
                <a:cs typeface="Arial MT"/>
              </a:rPr>
              <a:t>└──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dim_date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0"/>
              </a:spcBef>
            </a:pPr>
            <a:r>
              <a:rPr dirty="0" sz="2300" spc="-925">
                <a:latin typeface="Arial MT"/>
                <a:cs typeface="Arial MT"/>
              </a:rPr>
              <a:t>│</a:t>
            </a:r>
            <a:endParaRPr sz="2300">
              <a:latin typeface="Arial MT"/>
              <a:cs typeface="Arial MT"/>
            </a:endParaRPr>
          </a:p>
          <a:p>
            <a:pPr marL="580390">
              <a:lnSpc>
                <a:spcPct val="100000"/>
              </a:lnSpc>
              <a:spcBef>
                <a:spcPts val="1480"/>
              </a:spcBef>
            </a:pPr>
            <a:r>
              <a:rPr dirty="0" sz="2300" spc="-690">
                <a:latin typeface="Arial MT"/>
                <a:cs typeface="Arial MT"/>
              </a:rPr>
              <a:t>└──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Fact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Tables</a:t>
            </a:r>
            <a:endParaRPr sz="2300">
              <a:latin typeface="Arial MT"/>
              <a:cs typeface="Arial MT"/>
            </a:endParaRPr>
          </a:p>
          <a:p>
            <a:pPr marL="1067435">
              <a:lnSpc>
                <a:spcPct val="100000"/>
              </a:lnSpc>
              <a:spcBef>
                <a:spcPts val="1485"/>
              </a:spcBef>
            </a:pPr>
            <a:r>
              <a:rPr dirty="0" sz="2300" spc="-690">
                <a:latin typeface="Arial MT"/>
                <a:cs typeface="Arial MT"/>
              </a:rPr>
              <a:t>├──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fact_nav</a:t>
            </a:r>
            <a:endParaRPr sz="2300">
              <a:latin typeface="Arial MT"/>
              <a:cs typeface="Arial MT"/>
            </a:endParaRPr>
          </a:p>
          <a:p>
            <a:pPr marL="1067435">
              <a:lnSpc>
                <a:spcPct val="100000"/>
              </a:lnSpc>
              <a:spcBef>
                <a:spcPts val="1480"/>
              </a:spcBef>
            </a:pPr>
            <a:r>
              <a:rPr dirty="0" sz="2300" spc="-690">
                <a:latin typeface="Arial MT"/>
                <a:cs typeface="Arial MT"/>
              </a:rPr>
              <a:t>├──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fact_transactions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6481" y="695424"/>
            <a:ext cx="3000375" cy="1102995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300" spc="-690">
                <a:latin typeface="Arial MT"/>
                <a:cs typeface="Arial MT"/>
              </a:rPr>
              <a:t>├──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fact_performance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300" spc="-690">
                <a:latin typeface="Arial MT"/>
                <a:cs typeface="Arial MT"/>
              </a:rPr>
              <a:t>└──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fact_aum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278606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3190727"/>
            <a:ext cx="2482215" cy="573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ETL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Design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ETL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Workflow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300">
                <a:latin typeface="Arial MT"/>
                <a:cs typeface="Arial MT"/>
              </a:rPr>
              <a:t>Raw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CSV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Files</a:t>
            </a:r>
            <a:endParaRPr sz="2300">
              <a:latin typeface="Arial MT"/>
              <a:cs typeface="Arial MT"/>
            </a:endParaRPr>
          </a:p>
          <a:p>
            <a:pPr marL="12700" marR="1552575" indent="486409">
              <a:lnSpc>
                <a:spcPct val="153700"/>
              </a:lnSpc>
            </a:pPr>
            <a:r>
              <a:rPr dirty="0" sz="2300" spc="-1200">
                <a:latin typeface="Arial MT"/>
                <a:cs typeface="Arial MT"/>
              </a:rPr>
              <a:t>↓</a:t>
            </a:r>
            <a:r>
              <a:rPr dirty="0" sz="2300" spc="-10">
                <a:latin typeface="Arial MT"/>
                <a:cs typeface="Arial MT"/>
              </a:rPr>
              <a:t> Extract</a:t>
            </a:r>
            <a:endParaRPr sz="2300">
              <a:latin typeface="Arial MT"/>
              <a:cs typeface="Arial MT"/>
            </a:endParaRPr>
          </a:p>
          <a:p>
            <a:pPr marL="12700" marR="1141730" indent="486409">
              <a:lnSpc>
                <a:spcPct val="153700"/>
              </a:lnSpc>
            </a:pPr>
            <a:r>
              <a:rPr dirty="0" sz="2300" spc="-1200">
                <a:latin typeface="Arial MT"/>
                <a:cs typeface="Arial MT"/>
              </a:rPr>
              <a:t>↓</a:t>
            </a:r>
            <a:r>
              <a:rPr dirty="0" sz="2300" spc="-20">
                <a:latin typeface="Arial MT"/>
                <a:cs typeface="Arial MT"/>
              </a:rPr>
              <a:t> Transform</a:t>
            </a:r>
            <a:endParaRPr sz="2300">
              <a:latin typeface="Arial MT"/>
              <a:cs typeface="Arial MT"/>
            </a:endParaRPr>
          </a:p>
          <a:p>
            <a:pPr marL="12700" marR="1200150" indent="486409">
              <a:lnSpc>
                <a:spcPct val="153700"/>
              </a:lnSpc>
            </a:pPr>
            <a:r>
              <a:rPr dirty="0" sz="2300" spc="-1200">
                <a:latin typeface="Arial MT"/>
                <a:cs typeface="Arial MT"/>
              </a:rPr>
              <a:t>↓</a:t>
            </a:r>
            <a:r>
              <a:rPr dirty="0" sz="2300" spc="-25">
                <a:latin typeface="Arial MT"/>
                <a:cs typeface="Arial MT"/>
              </a:rPr>
              <a:t> Validation</a:t>
            </a:r>
            <a:endParaRPr sz="2300">
              <a:latin typeface="Arial MT"/>
              <a:cs typeface="Arial MT"/>
            </a:endParaRPr>
          </a:p>
          <a:p>
            <a:pPr marL="499109">
              <a:lnSpc>
                <a:spcPct val="100000"/>
              </a:lnSpc>
              <a:spcBef>
                <a:spcPts val="1475"/>
              </a:spcBef>
            </a:pPr>
            <a:r>
              <a:rPr dirty="0" sz="2300" spc="-1200">
                <a:latin typeface="Arial MT"/>
                <a:cs typeface="Arial MT"/>
              </a:rPr>
              <a:t>↓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300">
                <a:latin typeface="Arial MT"/>
                <a:cs typeface="Arial MT"/>
              </a:rPr>
              <a:t>SQLite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Warehouse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695424"/>
            <a:ext cx="3437254" cy="6450965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1580"/>
              </a:spcBef>
            </a:pPr>
            <a:r>
              <a:rPr dirty="0" sz="2300" spc="-1200">
                <a:latin typeface="Arial MT"/>
                <a:cs typeface="Arial MT"/>
              </a:rPr>
              <a:t>↓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300">
                <a:latin typeface="Arial MT"/>
                <a:cs typeface="Arial MT"/>
              </a:rPr>
              <a:t>Dashboard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&amp;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Analytics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Arial"/>
                <a:cs typeface="Arial"/>
              </a:rPr>
              <a:t>Key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Transformations</a:t>
            </a:r>
            <a:endParaRPr sz="17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37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handling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Duplicate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removal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type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conversion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Standardization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Validation</a:t>
            </a:r>
            <a:r>
              <a:rPr dirty="0" sz="2300" spc="-114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checks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1700" b="1">
                <a:latin typeface="Arial"/>
                <a:cs typeface="Arial"/>
              </a:rPr>
              <a:t>ETL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Benefits</a:t>
            </a:r>
            <a:endParaRPr sz="17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37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Automation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Consistency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quality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Scalability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7596186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8000158"/>
            <a:ext cx="4537075" cy="90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Exploratory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Data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Analysis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(EDA)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Key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Findings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018493"/>
            <a:ext cx="13004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Industry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Growth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45550"/>
            <a:ext cx="5774690" cy="32778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Industry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AUM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exceeded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345">
                <a:latin typeface="Arial MT"/>
                <a:cs typeface="Arial MT"/>
              </a:rPr>
              <a:t>₹81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Lakh</a:t>
            </a:r>
            <a:r>
              <a:rPr dirty="0" sz="2300" spc="-10">
                <a:latin typeface="Arial MT"/>
                <a:cs typeface="Arial MT"/>
              </a:rPr>
              <a:t> Crore.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Continuous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growth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observed.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300" b="1">
                <a:latin typeface="Arial"/>
                <a:cs typeface="Arial"/>
              </a:rPr>
              <a:t>Leading</a:t>
            </a:r>
            <a:r>
              <a:rPr dirty="0" sz="1300" spc="-60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AMCs</a:t>
            </a:r>
            <a:endParaRPr sz="1300">
              <a:latin typeface="Arial"/>
              <a:cs typeface="Arial"/>
            </a:endParaRPr>
          </a:p>
          <a:p>
            <a:pPr marL="697865" indent="-457200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SBI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Mutual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Fund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ICICI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Prudential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MF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HDFC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MF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Nippon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India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MF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4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Kotak</a:t>
            </a:r>
            <a:r>
              <a:rPr dirty="0" sz="2300" spc="-25">
                <a:latin typeface="Arial MT"/>
                <a:cs typeface="Arial MT"/>
              </a:rPr>
              <a:t> MF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819431"/>
            <a:ext cx="14839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Fund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300" y="5146488"/>
            <a:ext cx="520573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476250" indent="-235585">
              <a:lnSpc>
                <a:spcPct val="110200"/>
              </a:lnSpc>
              <a:spcBef>
                <a:spcPts val="100"/>
              </a:spcBef>
              <a:buSzPct val="76086"/>
              <a:buChar char="●"/>
              <a:tabLst>
                <a:tab pos="240665" algn="l"/>
              </a:tabLst>
            </a:pPr>
            <a:r>
              <a:rPr dirty="0" sz="2300">
                <a:latin typeface="Arial MT"/>
                <a:cs typeface="Arial MT"/>
              </a:rPr>
              <a:t>Majority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delivered</a:t>
            </a:r>
            <a:r>
              <a:rPr dirty="0" sz="2300" spc="-10">
                <a:latin typeface="Arial MT"/>
                <a:cs typeface="Arial MT"/>
              </a:rPr>
              <a:t> positive returns.</a:t>
            </a:r>
            <a:endParaRPr sz="2300">
              <a:latin typeface="Arial MT"/>
              <a:cs typeface="Arial MT"/>
            </a:endParaRPr>
          </a:p>
          <a:p>
            <a:pPr marL="240665" indent="-234950">
              <a:lnSpc>
                <a:spcPct val="100000"/>
              </a:lnSpc>
              <a:spcBef>
                <a:spcPts val="280"/>
              </a:spcBef>
              <a:buSzPct val="76086"/>
              <a:buChar char="●"/>
              <a:tabLst>
                <a:tab pos="240665" algn="l"/>
              </a:tabLst>
            </a:pPr>
            <a:r>
              <a:rPr dirty="0" sz="2300">
                <a:latin typeface="Arial MT"/>
                <a:cs typeface="Arial MT"/>
              </a:rPr>
              <a:t>Equity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outperformed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debt</a:t>
            </a:r>
            <a:r>
              <a:rPr dirty="0" sz="2300" spc="-10">
                <a:latin typeface="Arial MT"/>
                <a:cs typeface="Arial MT"/>
              </a:rPr>
              <a:t> funds.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499" y="6777036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1700" y="7184591"/>
            <a:ext cx="2541270" cy="1967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Investor</a:t>
            </a:r>
            <a:r>
              <a:rPr dirty="0" sz="2300" spc="-1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Analytics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spc="-10" b="1">
                <a:latin typeface="Arial"/>
                <a:cs typeface="Arial"/>
              </a:rPr>
              <a:t>State-</a:t>
            </a:r>
            <a:r>
              <a:rPr dirty="0" sz="1700" b="1">
                <a:latin typeface="Arial"/>
                <a:cs typeface="Arial"/>
              </a:rPr>
              <a:t>wise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300" spc="-60">
                <a:latin typeface="Arial MT"/>
                <a:cs typeface="Arial MT"/>
              </a:rPr>
              <a:t>Top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contributors: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4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Maharashtra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47824"/>
            <a:ext cx="2332990" cy="670750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Delhi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Karnataka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Gujarat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 spc="-30">
                <a:latin typeface="Arial MT"/>
                <a:cs typeface="Arial MT"/>
              </a:rPr>
              <a:t>Tamil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Nadu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1700" b="1">
                <a:latin typeface="Arial"/>
                <a:cs typeface="Arial"/>
              </a:rPr>
              <a:t>Age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Group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Arial"/>
              <a:cs typeface="Arial"/>
            </a:endParaRPr>
          </a:p>
          <a:p>
            <a:pPr marL="97155" marR="5080" indent="72390">
              <a:lnSpc>
                <a:spcPct val="110200"/>
              </a:lnSpc>
              <a:spcBef>
                <a:spcPts val="5"/>
              </a:spcBef>
              <a:tabLst>
                <a:tab pos="972185" algn="l"/>
                <a:tab pos="1467485" algn="l"/>
              </a:tabLst>
            </a:pPr>
            <a:r>
              <a:rPr dirty="0" sz="2300" spc="-25" b="1">
                <a:latin typeface="Arial"/>
                <a:cs typeface="Arial"/>
              </a:rPr>
              <a:t>Age</a:t>
            </a:r>
            <a:r>
              <a:rPr dirty="0" sz="2300" b="1">
                <a:latin typeface="Arial"/>
                <a:cs typeface="Arial"/>
              </a:rPr>
              <a:t>	</a:t>
            </a:r>
            <a:r>
              <a:rPr dirty="0" sz="2300" spc="-10" b="1">
                <a:latin typeface="Arial"/>
                <a:cs typeface="Arial"/>
              </a:rPr>
              <a:t>Observati </a:t>
            </a:r>
            <a:r>
              <a:rPr dirty="0" sz="2300" spc="-20" b="1">
                <a:latin typeface="Arial"/>
                <a:cs typeface="Arial"/>
              </a:rPr>
              <a:t>Grou</a:t>
            </a:r>
            <a:r>
              <a:rPr dirty="0" sz="2300" b="1">
                <a:latin typeface="Arial"/>
                <a:cs typeface="Arial"/>
              </a:rPr>
              <a:t>		</a:t>
            </a:r>
            <a:r>
              <a:rPr dirty="0" sz="2300" spc="-25" b="1">
                <a:latin typeface="Arial"/>
                <a:cs typeface="Arial"/>
              </a:rPr>
              <a:t>on</a:t>
            </a:r>
            <a:endParaRPr sz="23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280"/>
              </a:spcBef>
            </a:pPr>
            <a:r>
              <a:rPr dirty="0" sz="2300" spc="-50" b="1">
                <a:latin typeface="Arial"/>
                <a:cs typeface="Arial"/>
              </a:rPr>
              <a:t>p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Arial"/>
              <a:cs typeface="Arial"/>
            </a:endParaRPr>
          </a:p>
          <a:p>
            <a:pPr marL="78740">
              <a:lnSpc>
                <a:spcPct val="100000"/>
              </a:lnSpc>
              <a:tabLst>
                <a:tab pos="945515" algn="l"/>
              </a:tabLst>
            </a:pPr>
            <a:r>
              <a:rPr dirty="0" sz="2300">
                <a:latin typeface="Arial MT"/>
                <a:cs typeface="Arial MT"/>
              </a:rPr>
              <a:t>18–</a:t>
            </a:r>
            <a:r>
              <a:rPr dirty="0" sz="2300" spc="-50">
                <a:latin typeface="Arial MT"/>
                <a:cs typeface="Arial MT"/>
              </a:rPr>
              <a:t>2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25">
                <a:latin typeface="Arial MT"/>
                <a:cs typeface="Arial MT"/>
              </a:rPr>
              <a:t>Low</a:t>
            </a:r>
            <a:endParaRPr sz="2300">
              <a:latin typeface="Arial MT"/>
              <a:cs typeface="Arial MT"/>
            </a:endParaRPr>
          </a:p>
          <a:p>
            <a:pPr marL="945515" marR="47625" indent="-866775">
              <a:lnSpc>
                <a:spcPct val="110200"/>
              </a:lnSpc>
              <a:tabLst>
                <a:tab pos="945515" algn="l"/>
              </a:tabLst>
            </a:pPr>
            <a:r>
              <a:rPr dirty="0" sz="2300" spc="-50">
                <a:latin typeface="Arial MT"/>
                <a:cs typeface="Arial MT"/>
              </a:rPr>
              <a:t>5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investmen </a:t>
            </a:r>
            <a:r>
              <a:rPr dirty="0" sz="2300" spc="-50">
                <a:latin typeface="Arial MT"/>
                <a:cs typeface="Arial MT"/>
              </a:rPr>
              <a:t>t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Arial MT"/>
              <a:cs typeface="Arial MT"/>
            </a:endParaRPr>
          </a:p>
          <a:p>
            <a:pPr marL="78740">
              <a:lnSpc>
                <a:spcPct val="100000"/>
              </a:lnSpc>
              <a:spcBef>
                <a:spcPts val="5"/>
              </a:spcBef>
              <a:tabLst>
                <a:tab pos="945515" algn="l"/>
              </a:tabLst>
            </a:pPr>
            <a:r>
              <a:rPr dirty="0" sz="2300">
                <a:latin typeface="Arial MT"/>
                <a:cs typeface="Arial MT"/>
              </a:rPr>
              <a:t>26–</a:t>
            </a:r>
            <a:r>
              <a:rPr dirty="0" sz="2300" spc="-50">
                <a:latin typeface="Arial MT"/>
                <a:cs typeface="Arial MT"/>
              </a:rPr>
              <a:t>3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Highest</a:t>
            </a:r>
            <a:endParaRPr sz="2300">
              <a:latin typeface="Arial MT"/>
              <a:cs typeface="Arial MT"/>
            </a:endParaRPr>
          </a:p>
          <a:p>
            <a:pPr marL="78740">
              <a:lnSpc>
                <a:spcPct val="100000"/>
              </a:lnSpc>
              <a:spcBef>
                <a:spcPts val="280"/>
              </a:spcBef>
              <a:tabLst>
                <a:tab pos="945515" algn="l"/>
              </a:tabLst>
            </a:pPr>
            <a:r>
              <a:rPr dirty="0" sz="2300" spc="-50">
                <a:latin typeface="Arial MT"/>
                <a:cs typeface="Arial MT"/>
              </a:rPr>
              <a:t>5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25">
                <a:latin typeface="Arial MT"/>
                <a:cs typeface="Arial MT"/>
              </a:rPr>
              <a:t>SIP</a:t>
            </a:r>
            <a:endParaRPr sz="2300">
              <a:latin typeface="Arial MT"/>
              <a:cs typeface="Arial MT"/>
            </a:endParaRPr>
          </a:p>
          <a:p>
            <a:pPr marL="945515">
              <a:lnSpc>
                <a:spcPct val="100000"/>
              </a:lnSpc>
              <a:spcBef>
                <a:spcPts val="280"/>
              </a:spcBef>
            </a:pPr>
            <a:r>
              <a:rPr dirty="0" sz="2300" spc="-10">
                <a:latin typeface="Arial MT"/>
                <a:cs typeface="Arial MT"/>
              </a:rPr>
              <a:t>activity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066899"/>
            <a:ext cx="5692775" cy="60363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380"/>
              </a:spcBef>
              <a:tabLst>
                <a:tab pos="945515" algn="l"/>
              </a:tabLst>
            </a:pPr>
            <a:r>
              <a:rPr dirty="0" sz="2300">
                <a:latin typeface="Arial MT"/>
                <a:cs typeface="Arial MT"/>
              </a:rPr>
              <a:t>36–</a:t>
            </a:r>
            <a:r>
              <a:rPr dirty="0" sz="2300" spc="-50">
                <a:latin typeface="Arial MT"/>
                <a:cs typeface="Arial MT"/>
              </a:rPr>
              <a:t>4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Highest</a:t>
            </a:r>
            <a:endParaRPr sz="2300">
              <a:latin typeface="Arial MT"/>
              <a:cs typeface="Arial MT"/>
            </a:endParaRPr>
          </a:p>
          <a:p>
            <a:pPr marL="945515" marR="3407410" indent="-866775">
              <a:lnSpc>
                <a:spcPct val="110200"/>
              </a:lnSpc>
              <a:tabLst>
                <a:tab pos="945515" algn="l"/>
              </a:tabLst>
            </a:pPr>
            <a:r>
              <a:rPr dirty="0" sz="2300" spc="-50">
                <a:latin typeface="Arial MT"/>
                <a:cs typeface="Arial MT"/>
              </a:rPr>
              <a:t>5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investmen </a:t>
            </a:r>
            <a:r>
              <a:rPr dirty="0" sz="2300" spc="-50">
                <a:latin typeface="Arial MT"/>
                <a:cs typeface="Arial MT"/>
              </a:rPr>
              <a:t>t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Arial MT"/>
              <a:cs typeface="Arial MT"/>
            </a:endParaRPr>
          </a:p>
          <a:p>
            <a:pPr marL="78740">
              <a:lnSpc>
                <a:spcPct val="100000"/>
              </a:lnSpc>
              <a:tabLst>
                <a:tab pos="945515" algn="l"/>
              </a:tabLst>
            </a:pPr>
            <a:r>
              <a:rPr dirty="0" sz="2300">
                <a:latin typeface="Arial MT"/>
                <a:cs typeface="Arial MT"/>
              </a:rPr>
              <a:t>46–</a:t>
            </a:r>
            <a:r>
              <a:rPr dirty="0" sz="2300" spc="-50">
                <a:latin typeface="Arial MT"/>
                <a:cs typeface="Arial MT"/>
              </a:rPr>
              <a:t>6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Stable</a:t>
            </a:r>
            <a:endParaRPr sz="2300">
              <a:latin typeface="Arial MT"/>
              <a:cs typeface="Arial MT"/>
            </a:endParaRPr>
          </a:p>
          <a:p>
            <a:pPr marL="78740">
              <a:lnSpc>
                <a:spcPct val="100000"/>
              </a:lnSpc>
              <a:spcBef>
                <a:spcPts val="284"/>
              </a:spcBef>
              <a:tabLst>
                <a:tab pos="945515" algn="l"/>
              </a:tabLst>
            </a:pPr>
            <a:r>
              <a:rPr dirty="0" sz="2300" spc="-50">
                <a:latin typeface="Arial MT"/>
                <a:cs typeface="Arial MT"/>
              </a:rPr>
              <a:t>0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investors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Arial MT"/>
              <a:cs typeface="Arial MT"/>
            </a:endParaRPr>
          </a:p>
          <a:p>
            <a:pPr marL="78740">
              <a:lnSpc>
                <a:spcPct val="100000"/>
              </a:lnSpc>
              <a:tabLst>
                <a:tab pos="945515" algn="l"/>
              </a:tabLst>
            </a:pPr>
            <a:r>
              <a:rPr dirty="0" sz="2300" spc="-25">
                <a:latin typeface="Arial MT"/>
                <a:cs typeface="Arial MT"/>
              </a:rPr>
              <a:t>60+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Conservati</a:t>
            </a:r>
            <a:endParaRPr sz="2300">
              <a:latin typeface="Arial MT"/>
              <a:cs typeface="Arial MT"/>
            </a:endParaRPr>
          </a:p>
          <a:p>
            <a:pPr marL="945515" marR="3569970">
              <a:lnSpc>
                <a:spcPct val="110200"/>
              </a:lnSpc>
            </a:pPr>
            <a:r>
              <a:rPr dirty="0" sz="2300" spc="-25">
                <a:latin typeface="Arial MT"/>
                <a:cs typeface="Arial MT"/>
              </a:rPr>
              <a:t>ve </a:t>
            </a:r>
            <a:r>
              <a:rPr dirty="0" sz="2300" spc="-10">
                <a:latin typeface="Arial MT"/>
                <a:cs typeface="Arial MT"/>
              </a:rPr>
              <a:t>investors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700" spc="-10" b="1">
                <a:latin typeface="Arial"/>
                <a:cs typeface="Arial"/>
              </a:rPr>
              <a:t>Transaction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37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dominates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transactions.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Lumpsum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contributes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larger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ticket</a:t>
            </a:r>
            <a:r>
              <a:rPr dirty="0" sz="2300" spc="-10">
                <a:latin typeface="Arial MT"/>
                <a:cs typeface="Arial MT"/>
              </a:rPr>
              <a:t> sizes.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Redemptions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are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relatively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lower.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7548561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7957036"/>
            <a:ext cx="2606040" cy="90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Dashboard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Design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Dashboard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Pages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1493"/>
            <a:ext cx="145669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Industry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Overview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313901"/>
            <a:ext cx="2251710" cy="16040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KPI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Cards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AUM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Trend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AUM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AMC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300" b="1">
                <a:latin typeface="Arial"/>
                <a:cs typeface="Arial"/>
              </a:rPr>
              <a:t>Fund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003" y="1283836"/>
            <a:ext cx="5801394" cy="2803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035374"/>
            <a:ext cx="3971925" cy="16040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Risk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Return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Scatter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Plot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 spc="-40">
                <a:latin typeface="Arial MT"/>
                <a:cs typeface="Arial MT"/>
              </a:rPr>
              <a:t>NAV</a:t>
            </a:r>
            <a:r>
              <a:rPr dirty="0" sz="2300" spc="-11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Trends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Scorecard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300" b="1">
                <a:latin typeface="Arial"/>
                <a:cs typeface="Arial"/>
              </a:rPr>
              <a:t>Investor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Analytics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003" y="1014730"/>
            <a:ext cx="5801394" cy="38027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540074"/>
            <a:ext cx="3858895" cy="16040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State-</a:t>
            </a:r>
            <a:r>
              <a:rPr dirty="0" sz="2300">
                <a:latin typeface="Arial MT"/>
                <a:cs typeface="Arial MT"/>
              </a:rPr>
              <a:t>wise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Investments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SIP/Lumpsum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Distribution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4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Monthly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Transactions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300" b="1">
                <a:latin typeface="Arial"/>
                <a:cs typeface="Arial"/>
              </a:rPr>
              <a:t>SIP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&amp;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Market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Trends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003" y="1014687"/>
            <a:ext cx="5801394" cy="32959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395" y="6301213"/>
            <a:ext cx="5824611" cy="24102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847824"/>
            <a:ext cx="2596515" cy="11842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0665" indent="-234950">
              <a:lnSpc>
                <a:spcPct val="100000"/>
              </a:lnSpc>
              <a:spcBef>
                <a:spcPts val="380"/>
              </a:spcBef>
              <a:buSzPct val="76086"/>
              <a:buChar char="●"/>
              <a:tabLst>
                <a:tab pos="240665" algn="l"/>
              </a:tabLst>
            </a:pP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Nifty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Trend</a:t>
            </a:r>
            <a:endParaRPr sz="2300">
              <a:latin typeface="Arial MT"/>
              <a:cs typeface="Arial MT"/>
            </a:endParaRPr>
          </a:p>
          <a:p>
            <a:pPr marL="240665" indent="-234950">
              <a:lnSpc>
                <a:spcPct val="100000"/>
              </a:lnSpc>
              <a:spcBef>
                <a:spcPts val="280"/>
              </a:spcBef>
              <a:buSzPct val="76086"/>
              <a:buChar char="●"/>
              <a:tabLst>
                <a:tab pos="240665" algn="l"/>
              </a:tabLst>
            </a:pPr>
            <a:r>
              <a:rPr dirty="0" sz="2300">
                <a:latin typeface="Arial MT"/>
                <a:cs typeface="Arial MT"/>
              </a:rPr>
              <a:t>Category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Inflows</a:t>
            </a:r>
            <a:endParaRPr sz="2300">
              <a:latin typeface="Arial MT"/>
              <a:cs typeface="Arial MT"/>
            </a:endParaRPr>
          </a:p>
          <a:p>
            <a:pPr marL="240665" indent="-234950">
              <a:lnSpc>
                <a:spcPct val="100000"/>
              </a:lnSpc>
              <a:spcBef>
                <a:spcPts val="284"/>
              </a:spcBef>
              <a:buSzPct val="76086"/>
              <a:buChar char="●"/>
              <a:tabLst>
                <a:tab pos="240665" algn="l"/>
              </a:tabLst>
            </a:pPr>
            <a:r>
              <a:rPr dirty="0" sz="2300" spc="-60">
                <a:latin typeface="Arial MT"/>
                <a:cs typeface="Arial MT"/>
              </a:rPr>
              <a:t>Top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Categories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248126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2885927"/>
            <a:ext cx="5478780" cy="3684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Advanced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Analytics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Historical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VaR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&amp;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CVaR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300">
                <a:latin typeface="Arial MT"/>
                <a:cs typeface="Arial MT"/>
              </a:rPr>
              <a:t>Measures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downside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risk.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300" spc="-10" b="1">
                <a:latin typeface="Arial"/>
                <a:cs typeface="Arial"/>
              </a:rPr>
              <a:t>Formula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300" spc="-10">
                <a:latin typeface="Arial MT"/>
                <a:cs typeface="Arial MT"/>
              </a:rPr>
              <a:t>VaR</a:t>
            </a:r>
            <a:r>
              <a:rPr dirty="0" sz="2300" spc="-10">
                <a:latin typeface="Times New Roman"/>
                <a:cs typeface="Times New Roman"/>
              </a:rPr>
              <a:t>₉₅</a:t>
            </a:r>
            <a:r>
              <a:rPr dirty="0" sz="2300" spc="10">
                <a:latin typeface="Times New Roman"/>
                <a:cs typeface="Times New Roman"/>
              </a:rPr>
              <a:t> </a:t>
            </a:r>
            <a:r>
              <a:rPr dirty="0" sz="2300">
                <a:latin typeface="Arial MT"/>
                <a:cs typeface="Arial MT"/>
              </a:rPr>
              <a:t>=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5th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Percentile(Return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Distribution)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300" spc="-10" b="1">
                <a:latin typeface="Arial"/>
                <a:cs typeface="Arial"/>
              </a:rPr>
              <a:t>Benefits</a:t>
            </a:r>
            <a:endParaRPr sz="13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30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Risk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estimation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Capital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preservation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499" y="7015161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1700" y="7352825"/>
            <a:ext cx="21482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Rolling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Sharpe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Ratio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44774"/>
            <a:ext cx="5414645" cy="17233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4965">
              <a:lnSpc>
                <a:spcPct val="110200"/>
              </a:lnSpc>
              <a:spcBef>
                <a:spcPts val="100"/>
              </a:spcBef>
            </a:pPr>
            <a:r>
              <a:rPr dirty="0" sz="2300">
                <a:latin typeface="Arial MT"/>
                <a:cs typeface="Arial MT"/>
              </a:rPr>
              <a:t>Sharpe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Ratio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=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(Rolling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Mean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Return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÷ </a:t>
            </a:r>
            <a:r>
              <a:rPr dirty="0" sz="2300">
                <a:latin typeface="Arial MT"/>
                <a:cs typeface="Arial MT"/>
              </a:rPr>
              <a:t>Rolling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Standard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Deviation)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×</a:t>
            </a:r>
            <a:r>
              <a:rPr dirty="0" sz="2300" spc="-20">
                <a:latin typeface="Arial MT"/>
                <a:cs typeface="Arial MT"/>
              </a:rPr>
              <a:t> √252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2300">
                <a:latin typeface="Arial MT"/>
                <a:cs typeface="Arial MT"/>
              </a:rPr>
              <a:t>Measures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risk-</a:t>
            </a:r>
            <a:r>
              <a:rPr dirty="0" sz="2300">
                <a:latin typeface="Arial MT"/>
                <a:cs typeface="Arial MT"/>
              </a:rPr>
              <a:t>adjusted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performance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over </a:t>
            </a:r>
            <a:r>
              <a:rPr dirty="0" sz="2300" spc="-10">
                <a:latin typeface="Arial MT"/>
                <a:cs typeface="Arial MT"/>
              </a:rPr>
              <a:t>time.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621506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6621547"/>
            <a:ext cx="5850890" cy="2506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Investor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Cohort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&amp;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SIP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Continuity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Analysis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Cohort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Analysis</a:t>
            </a:r>
            <a:endParaRPr sz="1700">
              <a:latin typeface="Arial"/>
              <a:cs typeface="Arial"/>
            </a:endParaRPr>
          </a:p>
          <a:p>
            <a:pPr marL="12700" marR="327025">
              <a:lnSpc>
                <a:spcPts val="4240"/>
              </a:lnSpc>
              <a:spcBef>
                <a:spcPts val="280"/>
              </a:spcBef>
            </a:pPr>
            <a:r>
              <a:rPr dirty="0" sz="2300">
                <a:latin typeface="Arial MT"/>
                <a:cs typeface="Arial MT"/>
              </a:rPr>
              <a:t>Investors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grouped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by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first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transaction</a:t>
            </a:r>
            <a:r>
              <a:rPr dirty="0" sz="2300" spc="-10">
                <a:latin typeface="Arial MT"/>
                <a:cs typeface="Arial MT"/>
              </a:rPr>
              <a:t> year. Metrics: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09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Average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Amount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199" y="1003101"/>
            <a:ext cx="5813003" cy="28266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47824"/>
            <a:ext cx="3583940" cy="518414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 spc="-30">
                <a:latin typeface="Arial MT"/>
                <a:cs typeface="Arial MT"/>
              </a:rPr>
              <a:t>Total</a:t>
            </a:r>
            <a:r>
              <a:rPr dirty="0" sz="2300" spc="-1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Invested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Preferred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Fund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1700" b="1">
                <a:latin typeface="Arial"/>
                <a:cs typeface="Arial"/>
              </a:rPr>
              <a:t>SIP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Continuity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classified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as: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300" spc="-10" b="1">
                <a:latin typeface="Arial"/>
                <a:cs typeface="Arial"/>
              </a:rPr>
              <a:t>Active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300">
                <a:latin typeface="Arial MT"/>
                <a:cs typeface="Arial MT"/>
              </a:rPr>
              <a:t>Average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gap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≤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35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days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300" b="1">
                <a:latin typeface="Arial"/>
                <a:cs typeface="Arial"/>
              </a:rPr>
              <a:t>At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Risk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ts val="4240"/>
              </a:lnSpc>
              <a:spcBef>
                <a:spcPts val="204"/>
              </a:spcBef>
            </a:pPr>
            <a:r>
              <a:rPr dirty="0" sz="2300">
                <a:latin typeface="Arial MT"/>
                <a:cs typeface="Arial MT"/>
              </a:rPr>
              <a:t>Average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gap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&gt;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35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days </a:t>
            </a:r>
            <a:r>
              <a:rPr dirty="0" sz="2300" spc="-10">
                <a:latin typeface="Arial MT"/>
                <a:cs typeface="Arial MT"/>
              </a:rPr>
              <a:t>Benefits: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09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Churn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prediction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retention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6481762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6849805"/>
            <a:ext cx="5299710" cy="1851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Fund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Recommendation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System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&amp;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spc="-25" b="1">
                <a:latin typeface="Arial"/>
                <a:cs typeface="Arial"/>
              </a:rPr>
              <a:t>Key </a:t>
            </a:r>
            <a:r>
              <a:rPr dirty="0" sz="2300" spc="-10" b="1">
                <a:latin typeface="Arial"/>
                <a:cs typeface="Arial"/>
              </a:rPr>
              <a:t>Findings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Fund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Recommendation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Logic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300" spc="-10">
                <a:latin typeface="Arial MT"/>
                <a:cs typeface="Arial MT"/>
              </a:rPr>
              <a:t>Input: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695424"/>
            <a:ext cx="5662930" cy="740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59200">
              <a:lnSpc>
                <a:spcPct val="153700"/>
              </a:lnSpc>
              <a:spcBef>
                <a:spcPts val="100"/>
              </a:spcBef>
            </a:pPr>
            <a:r>
              <a:rPr dirty="0" sz="2300">
                <a:latin typeface="Arial MT"/>
                <a:cs typeface="Arial MT"/>
              </a:rPr>
              <a:t>Low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Risk </a:t>
            </a:r>
            <a:r>
              <a:rPr dirty="0" sz="2300">
                <a:latin typeface="Arial MT"/>
                <a:cs typeface="Arial MT"/>
              </a:rPr>
              <a:t>Moderate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Risk </a:t>
            </a:r>
            <a:r>
              <a:rPr dirty="0" sz="2300">
                <a:latin typeface="Arial MT"/>
                <a:cs typeface="Arial MT"/>
              </a:rPr>
              <a:t>High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Risk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300" spc="-10">
                <a:latin typeface="Arial MT"/>
                <a:cs typeface="Arial MT"/>
              </a:rPr>
              <a:t>Output: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300" spc="-60">
                <a:latin typeface="Arial MT"/>
                <a:cs typeface="Arial MT"/>
              </a:rPr>
              <a:t>Top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ranked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Sharpe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Ratio.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b="1">
                <a:latin typeface="Arial"/>
                <a:cs typeface="Arial"/>
              </a:rPr>
              <a:t>Key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Findings</a:t>
            </a:r>
            <a:endParaRPr sz="1700">
              <a:latin typeface="Arial"/>
              <a:cs typeface="Arial"/>
            </a:endParaRPr>
          </a:p>
          <a:p>
            <a:pPr marL="697865" indent="-457200">
              <a:lnSpc>
                <a:spcPct val="100000"/>
              </a:lnSpc>
              <a:spcBef>
                <a:spcPts val="137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Industry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AUM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growing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steadily.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SIP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is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dominant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investment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mode.</a:t>
            </a:r>
            <a:endParaRPr sz="2300">
              <a:latin typeface="Arial MT"/>
              <a:cs typeface="Arial MT"/>
            </a:endParaRPr>
          </a:p>
          <a:p>
            <a:pPr marL="469265" marR="784225" indent="-228600">
              <a:lnSpc>
                <a:spcPct val="110200"/>
              </a:lnSpc>
              <a:buAutoNum type="arabicPeriod"/>
              <a:tabLst>
                <a:tab pos="469265" algn="l"/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Maharashtra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contributes</a:t>
            </a:r>
            <a:r>
              <a:rPr dirty="0" sz="2300" spc="-10">
                <a:latin typeface="Arial MT"/>
                <a:cs typeface="Arial MT"/>
              </a:rPr>
              <a:t> highest investments.</a:t>
            </a:r>
            <a:endParaRPr sz="2300">
              <a:latin typeface="Arial MT"/>
              <a:cs typeface="Arial MT"/>
            </a:endParaRPr>
          </a:p>
          <a:p>
            <a:pPr marL="697865" indent="-4572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Investors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aged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26–45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are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most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active.</a:t>
            </a:r>
            <a:endParaRPr sz="2300">
              <a:latin typeface="Arial MT"/>
              <a:cs typeface="Arial MT"/>
            </a:endParaRPr>
          </a:p>
          <a:p>
            <a:pPr marL="469265" marR="621665" indent="-228600">
              <a:lnSpc>
                <a:spcPct val="110200"/>
              </a:lnSpc>
              <a:buAutoNum type="arabicPeriod"/>
              <a:tabLst>
                <a:tab pos="469265" algn="l"/>
                <a:tab pos="697865" algn="l"/>
              </a:tabLst>
            </a:pP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Equity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funds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remain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preferred category.</a:t>
            </a:r>
            <a:endParaRPr sz="2300">
              <a:latin typeface="Arial MT"/>
              <a:cs typeface="Arial MT"/>
            </a:endParaRPr>
          </a:p>
          <a:p>
            <a:pPr marL="469265" marR="297815" indent="-228600">
              <a:lnSpc>
                <a:spcPct val="110200"/>
              </a:lnSpc>
              <a:buAutoNum type="arabicPeriod"/>
              <a:tabLst>
                <a:tab pos="469265" algn="l"/>
                <a:tab pos="697865" algn="l"/>
              </a:tabLst>
            </a:pPr>
            <a:r>
              <a:rPr dirty="0" sz="2300" spc="-10">
                <a:latin typeface="Arial MT"/>
                <a:cs typeface="Arial MT"/>
              </a:rPr>
              <a:t>	</a:t>
            </a:r>
            <a:r>
              <a:rPr dirty="0" sz="2300" spc="-10">
                <a:latin typeface="Arial MT"/>
                <a:cs typeface="Arial MT"/>
              </a:rPr>
              <a:t>Risk-</a:t>
            </a:r>
            <a:r>
              <a:rPr dirty="0" sz="2300">
                <a:latin typeface="Arial MT"/>
                <a:cs typeface="Arial MT"/>
              </a:rPr>
              <a:t>adjusted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metrics provide </a:t>
            </a:r>
            <a:r>
              <a:rPr dirty="0" sz="2300" spc="-10">
                <a:latin typeface="Arial MT"/>
                <a:cs typeface="Arial MT"/>
              </a:rPr>
              <a:t>better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selection.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499" y="8548686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399" y="0"/>
                </a:lnTo>
              </a:path>
            </a:pathLst>
          </a:custGeom>
          <a:ln w="9524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83649"/>
            <a:ext cx="5366385" cy="4579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Conclusion</a:t>
            </a:r>
            <a:r>
              <a:rPr dirty="0" sz="2300" spc="-2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&amp;</a:t>
            </a:r>
            <a:r>
              <a:rPr dirty="0" sz="2300" spc="-20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Recommendations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spc="-10" b="1">
                <a:latin typeface="Arial"/>
                <a:cs typeface="Arial"/>
              </a:rPr>
              <a:t>Conclusion</a:t>
            </a:r>
            <a:endParaRPr sz="1700">
              <a:latin typeface="Arial"/>
              <a:cs typeface="Arial"/>
            </a:endParaRPr>
          </a:p>
          <a:p>
            <a:pPr marL="12700" marR="541020">
              <a:lnSpc>
                <a:spcPct val="110200"/>
              </a:lnSpc>
              <a:spcBef>
                <a:spcPts val="1090"/>
              </a:spcBef>
            </a:pP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Bluestock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Mutual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Analytics </a:t>
            </a:r>
            <a:r>
              <a:rPr dirty="0" sz="2300">
                <a:latin typeface="Arial MT"/>
                <a:cs typeface="Arial MT"/>
              </a:rPr>
              <a:t>Platform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successfully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combines: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148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Engineering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Warehousing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Financial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Analytics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Business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Intelligence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provide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actionable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investment</a:t>
            </a:r>
            <a:r>
              <a:rPr dirty="0" sz="2300" spc="-10">
                <a:latin typeface="Arial MT"/>
                <a:cs typeface="Arial MT"/>
              </a:rPr>
              <a:t> insights.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1700" spc="-10" b="1">
                <a:latin typeface="Arial"/>
                <a:cs typeface="Arial"/>
              </a:rPr>
              <a:t>Recommendations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5644855"/>
            <a:ext cx="90296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Arial"/>
                <a:cs typeface="Arial"/>
              </a:rPr>
              <a:t>Short-</a:t>
            </a:r>
            <a:r>
              <a:rPr dirty="0" sz="1300" spc="-20" b="1">
                <a:latin typeface="Arial"/>
                <a:cs typeface="Arial"/>
              </a:rPr>
              <a:t>Term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971912"/>
            <a:ext cx="5336540" cy="28917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68630" indent="-304800">
              <a:lnSpc>
                <a:spcPct val="100000"/>
              </a:lnSpc>
              <a:spcBef>
                <a:spcPts val="3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Improve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dashboard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automation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Add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more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segmentation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300" spc="-10" b="1">
                <a:latin typeface="Arial"/>
                <a:cs typeface="Arial"/>
              </a:rPr>
              <a:t>Long-</a:t>
            </a:r>
            <a:r>
              <a:rPr dirty="0" sz="1300" spc="-20" b="1">
                <a:latin typeface="Arial"/>
                <a:cs typeface="Arial"/>
              </a:rPr>
              <a:t>Term</a:t>
            </a:r>
            <a:endParaRPr sz="13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29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Live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AMFI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integration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5"/>
              </a:spcBef>
              <a:buChar char="●"/>
              <a:tabLst>
                <a:tab pos="468630" algn="l"/>
              </a:tabLst>
            </a:pPr>
            <a:r>
              <a:rPr dirty="0" sz="2300" spc="-10">
                <a:latin typeface="Arial MT"/>
                <a:cs typeface="Arial MT"/>
              </a:rPr>
              <a:t>Real-</a:t>
            </a:r>
            <a:r>
              <a:rPr dirty="0" sz="2300">
                <a:latin typeface="Arial MT"/>
                <a:cs typeface="Arial MT"/>
              </a:rPr>
              <a:t>time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NAV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updates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Machine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Learning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fund</a:t>
            </a:r>
            <a:r>
              <a:rPr dirty="0" sz="2300" spc="-10">
                <a:latin typeface="Arial MT"/>
                <a:cs typeface="Arial MT"/>
              </a:rPr>
              <a:t> recommender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Investor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churn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prediction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59647"/>
            <a:ext cx="4119245" cy="263525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700" b="1">
                <a:latin typeface="Arial"/>
                <a:cs typeface="Arial"/>
              </a:rPr>
              <a:t>Future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Scope</a:t>
            </a:r>
            <a:endParaRPr sz="1700">
              <a:latin typeface="Arial"/>
              <a:cs typeface="Arial"/>
            </a:endParaRPr>
          </a:p>
          <a:p>
            <a:pPr marL="468630" indent="-304800">
              <a:lnSpc>
                <a:spcPct val="100000"/>
              </a:lnSpc>
              <a:spcBef>
                <a:spcPts val="137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Cloud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deployment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5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Power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BI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Service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publishing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Predictive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analytics</a:t>
            </a:r>
            <a:endParaRPr sz="2300">
              <a:latin typeface="Arial MT"/>
              <a:cs typeface="Arial MT"/>
            </a:endParaRPr>
          </a:p>
          <a:p>
            <a:pPr marL="46863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468630" algn="l"/>
              </a:tabLst>
            </a:pPr>
            <a:r>
              <a:rPr dirty="0" sz="2300">
                <a:latin typeface="Arial MT"/>
                <a:cs typeface="Arial MT"/>
              </a:rPr>
              <a:t>Portfolio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optimization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300" b="1">
                <a:latin typeface="Arial"/>
                <a:cs typeface="Arial"/>
              </a:rPr>
              <a:t>Thank</a:t>
            </a:r>
            <a:r>
              <a:rPr dirty="0" sz="2300" spc="-5" b="1">
                <a:latin typeface="Arial"/>
                <a:cs typeface="Arial"/>
              </a:rPr>
              <a:t> </a:t>
            </a:r>
            <a:r>
              <a:rPr dirty="0" sz="2300" spc="-25" b="1">
                <a:latin typeface="Arial"/>
                <a:cs typeface="Arial"/>
              </a:rPr>
              <a:t>You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Final_Report - Google Docs</dc:title>
  <dcterms:created xsi:type="dcterms:W3CDTF">2026-06-12T13:00:41Z</dcterms:created>
  <dcterms:modified xsi:type="dcterms:W3CDTF">2026-06-12T13:00:41Z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Creator">
    <vt:lpwstr>Mozilla/5.0 (Windows NT 10.0; Win64; x64) AppleWebKit/537.36 (KHTML, like Gecko) Chrome/149.0.0.0 Safari/537.36 Edg/149.0.0.0</vt:lpwstr>
  </property>
  <property fmtid="{D5CDD505-2E9C-101B-9397-08002B2CF9AE}" pid="5" name="LastSaved">
    <vt:filetime>2026-06-12T00:00:00Z</vt:filetime>
  </property>
  <property fmtid="{D5CDD505-2E9C-101B-9397-08002B2CF9AE}" pid="6" name="Producer">
    <vt:lpwstr>Skia/PDF m149</vt:lpwstr>
  </property>
</Properties>
</file>